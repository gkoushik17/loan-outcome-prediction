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Retail FICO</c:v>
                </c:pt>
                <c:pt idx="1">
                  <c:v>Bi-weekly payment frequency</c:v>
                </c:pt>
                <c:pt idx="2">
                  <c:v>Amount requested</c:v>
                </c:pt>
                <c:pt idx="3">
                  <c:v>Money FICO</c:v>
                </c:pt>
                <c:pt idx="4">
                  <c:v>L2C score</c:v>
                </c:pt>
                <c:pt idx="5">
                  <c:v>Telecom FICO</c:v>
                </c:pt>
                <c:pt idx="6">
                  <c:v>Semi-monthly payment frequency</c:v>
                </c:pt>
                <c:pt idx="7">
                  <c:v>Bank account duration: 3+ years</c:v>
                </c:pt>
                <c:pt idx="8">
                  <c:v>Age at application</c:v>
                </c:pt>
                <c:pt idx="9">
                  <c:v>Loan duration</c:v>
                </c:pt>
                <c:pt idx="10">
                  <c:v>Bank Card FICO</c:v>
                </c:pt>
                <c:pt idx="11">
                  <c:v>Use of money: Other</c:v>
                </c:pt>
                <c:pt idx="12">
                  <c:v>Number of payments</c:v>
                </c:pt>
                <c:pt idx="13">
                  <c:v>Monthly rent</c:v>
                </c:pt>
                <c:pt idx="14">
                  <c:v>Monthly income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0.05</c:v>
                </c:pt>
                <c:pt idx="1">
                  <c:v>0.0488</c:v>
                </c:pt>
                <c:pt idx="2">
                  <c:v>0.0417</c:v>
                </c:pt>
                <c:pt idx="3">
                  <c:v>0.0402</c:v>
                </c:pt>
                <c:pt idx="4">
                  <c:v>0.0385</c:v>
                </c:pt>
                <c:pt idx="5">
                  <c:v>0.0375</c:v>
                </c:pt>
                <c:pt idx="6">
                  <c:v>0.0329</c:v>
                </c:pt>
                <c:pt idx="7">
                  <c:v>0.0322</c:v>
                </c:pt>
                <c:pt idx="8">
                  <c:v>0.0321</c:v>
                </c:pt>
                <c:pt idx="9">
                  <c:v>0.0312</c:v>
                </c:pt>
                <c:pt idx="10">
                  <c:v>0.0305</c:v>
                </c:pt>
                <c:pt idx="11">
                  <c:v>0.0303</c:v>
                </c:pt>
                <c:pt idx="12">
                  <c:v>0.0299</c:v>
                </c:pt>
                <c:pt idx="13">
                  <c:v>0.0297</c:v>
                </c:pt>
                <c:pt idx="14">
                  <c:v>0.027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55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7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1">
                <a:solidFill>
                  <a:srgbClr val="89DCD3"/>
                </a:solidFill>
                <a:latin typeface="Aptos"/>
              </a:defRPr>
            </a:pPr>
            <a:r>
              <a:t>DATA SCIENTIST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33272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Loan Outcome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960120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900" b="0">
                <a:solidFill>
                  <a:srgbClr val="DFEAF8"/>
                </a:solidFill>
                <a:latin typeface="Aptos"/>
              </a:defRPr>
            </a:pPr>
            <a:r>
              <a:t>Exploratory analysis and machine-learning evaluation for Good vs Bad loan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89120"/>
            <a:ext cx="1005840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Objective: assess whether application data can help identify loan performance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17220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0">
                <a:solidFill>
                  <a:srgbClr val="DFEAF8"/>
                </a:solidFill>
                <a:latin typeface="Aptos"/>
              </a:defRPr>
            </a:pPr>
            <a:r>
              <a:t>Prepared for assessment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777240" cy="54864"/>
          </a:xfrm>
          <a:prstGeom prst="rect">
            <a:avLst/>
          </a:prstGeom>
          <a:solidFill>
            <a:srgbClr val="1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A useful baseline signal, but not yet suitable for lending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Loan outcome prediction | Exploratory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2560320" cy="1508760"/>
          </a:xfrm>
          <a:prstGeom prst="roundRect">
            <a:avLst/>
          </a:prstGeom>
          <a:solidFill>
            <a:srgbClr val="F1F6FB"/>
          </a:solidFill>
          <a:ln>
            <a:solidFill>
              <a:srgbClr val="DF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01952"/>
            <a:ext cx="22311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HOLDOUT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221991"/>
            <a:ext cx="223113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600" b="1">
                <a:solidFill>
                  <a:srgbClr val="2F66BE"/>
                </a:solidFill>
                <a:latin typeface="Aptos"/>
              </a:defRPr>
            </a:pPr>
            <a:r>
              <a:t>63.85%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52344"/>
            <a:ext cx="2231136" cy="4846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0">
                <a:solidFill>
                  <a:srgbClr val="2D3748"/>
                </a:solidFill>
                <a:latin typeface="Aptos"/>
              </a:defRPr>
            </a:pPr>
            <a:r>
              <a:t>83 of 130 test records classified correctly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783080"/>
            <a:ext cx="2560320" cy="1508760"/>
          </a:xfrm>
          <a:prstGeom prst="roundRect">
            <a:avLst/>
          </a:prstGeom>
          <a:solidFill>
            <a:srgbClr val="F1F6FB"/>
          </a:solidFill>
          <a:ln>
            <a:solidFill>
              <a:srgbClr val="DF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901952"/>
            <a:ext cx="22311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221991"/>
            <a:ext cx="223113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600" b="1">
                <a:solidFill>
                  <a:srgbClr val="189189"/>
                </a:solidFill>
                <a:latin typeface="Aptos"/>
              </a:defRPr>
            </a:pPr>
            <a:r>
              <a:t>0.677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752344"/>
            <a:ext cx="2231136" cy="4846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0">
                <a:solidFill>
                  <a:srgbClr val="2D3748"/>
                </a:solidFill>
                <a:latin typeface="Aptos"/>
              </a:defRPr>
            </a:pPr>
            <a:r>
              <a:t>Extra Trees in model comparison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83080"/>
            <a:ext cx="2560320" cy="1508760"/>
          </a:xfrm>
          <a:prstGeom prst="roundRect">
            <a:avLst/>
          </a:prstGeom>
          <a:solidFill>
            <a:srgbClr val="F1F6FB"/>
          </a:solidFill>
          <a:ln>
            <a:solidFill>
              <a:srgbClr val="DF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901952"/>
            <a:ext cx="22311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BAD 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221991"/>
            <a:ext cx="223113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600" b="1">
                <a:solidFill>
                  <a:srgbClr val="E69138"/>
                </a:solidFill>
                <a:latin typeface="Aptos"/>
              </a:defRPr>
            </a:pPr>
            <a:r>
              <a:t>70.42%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752344"/>
            <a:ext cx="2231136" cy="4846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0">
                <a:solidFill>
                  <a:srgbClr val="2D3748"/>
                </a:solidFill>
                <a:latin typeface="Aptos"/>
              </a:defRPr>
            </a:pPr>
            <a:r>
              <a:t>50 of 71 Bad outcomes identified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783080"/>
            <a:ext cx="2468880" cy="1508760"/>
          </a:xfrm>
          <a:prstGeom prst="roundRect">
            <a:avLst/>
          </a:prstGeom>
          <a:solidFill>
            <a:srgbClr val="F1F6FB"/>
          </a:solidFill>
          <a:ln>
            <a:solidFill>
              <a:srgbClr val="DF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1901952"/>
            <a:ext cx="213969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ERRORS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221991"/>
            <a:ext cx="213969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600" b="1">
                <a:solidFill>
                  <a:srgbClr val="BE4B4B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2752344"/>
            <a:ext cx="2139696" cy="4846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0">
                <a:solidFill>
                  <a:srgbClr val="2D3748"/>
                </a:solidFill>
                <a:latin typeface="Aptos"/>
              </a:defRPr>
            </a:pPr>
            <a:r>
              <a:t>21 Bad predicted Good; 26 Good predicted Bad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703320"/>
            <a:ext cx="1069848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Credit-related scores, payment frequency and loan characteristics ranked among the most important features.</a:t>
            </a:r>
          </a:p>
          <a:p>
            <a:pPr>
              <a:spcAft>
                <a:spcPts val="9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Matched records have a different outcome mix from unmatched records, indicating possible selection or matching bias.</a:t>
            </a:r>
          </a:p>
          <a:p>
            <a:pPr>
              <a:spcAft>
                <a:spcPts val="9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Recommendation: continue validation and fairness review; do not automate lending decisions from this prototype.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Business problem and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777240" cy="54864"/>
          </a:xfrm>
          <a:prstGeom prst="rect">
            <a:avLst/>
          </a:prstGeom>
          <a:solidFill>
            <a:srgbClr val="1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Use historical loan performance to explore predictive signals in application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Loan outcome prediction | Exploratory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9848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Business question: can application attributes help distinguish loans labeled Good from those labeled Bad?</a:t>
            </a:r>
          </a:p>
          <a:p>
            <a:pPr>
              <a:spcAft>
                <a:spcPts val="15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Target variable: flgGood, represented as Good or Bad.</a:t>
            </a:r>
          </a:p>
          <a:p>
            <a:pPr>
              <a:spcAft>
                <a:spcPts val="15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Assessment output: compare classifiers, identify influential features, inspect errors and document limitations.</a:t>
            </a:r>
          </a:p>
          <a:p>
            <a:pPr>
              <a:spcAft>
                <a:spcPts val="15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This is an exploratory model assessment, not a validated credit policy or automated approval recommendation.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777240" cy="54864"/>
          </a:xfrm>
          <a:prstGeom prst="rect">
            <a:avLst/>
          </a:prstGeom>
          <a:solidFill>
            <a:srgbClr val="1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The workbook contains application attributes and historical loan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Loan outcome prediction | Exploratory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24612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F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01952"/>
            <a:ext cx="29169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APPLICATION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21991"/>
            <a:ext cx="291693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600" b="1">
                <a:solidFill>
                  <a:srgbClr val="2F66BE"/>
                </a:solidFill>
                <a:latin typeface="Aptos"/>
              </a:defRPr>
            </a:pPr>
            <a:r>
              <a:t>647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752344"/>
            <a:ext cx="2916936" cy="39319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0">
                <a:solidFill>
                  <a:srgbClr val="2D3748"/>
                </a:solidFill>
                <a:latin typeface="Aptos"/>
              </a:defRPr>
            </a:pPr>
            <a:r>
              <a:t>31 columns in the workbook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83080"/>
            <a:ext cx="324612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F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901952"/>
            <a:ext cx="29169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LOAN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221991"/>
            <a:ext cx="291693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600" b="1">
                <a:solidFill>
                  <a:srgbClr val="189189"/>
                </a:solidFill>
                <a:latin typeface="Aptos"/>
              </a:defRPr>
            </a:pPr>
            <a:r>
              <a:t>1,285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752344"/>
            <a:ext cx="2916936" cy="39319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0">
                <a:solidFill>
                  <a:srgbClr val="2D3748"/>
                </a:solidFill>
                <a:latin typeface="Aptos"/>
              </a:defRPr>
            </a:pPr>
            <a:r>
              <a:t>Two fields: loan ID and outcome label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783080"/>
            <a:ext cx="324612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F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901952"/>
            <a:ext cx="29169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OUTCOME MIX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221991"/>
            <a:ext cx="291693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600" b="1">
                <a:solidFill>
                  <a:srgbClr val="E69138"/>
                </a:solidFill>
                <a:latin typeface="Aptos"/>
              </a:defRPr>
            </a:pPr>
            <a:r>
              <a:t>59.84% Good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2752344"/>
            <a:ext cx="2916936" cy="39319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0">
                <a:solidFill>
                  <a:srgbClr val="2D3748"/>
                </a:solidFill>
                <a:latin typeface="Aptos"/>
              </a:defRPr>
            </a:pPr>
            <a:r>
              <a:t>769 Good and 516 Bad overall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10698480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Application attributes include requested amount, loan duration, payment setup, income, rent and several credit-related scores.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Loan performance contains multiple loan records for some customers.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Nine application rows have missing customer IDs; 638 unique nonmissing application IDs were initially observed.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Keep direct identifiers and post-decision fields out of predictive features.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Record matching and data-quality audit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777240" cy="54864"/>
          </a:xfrm>
          <a:prstGeom prst="rect">
            <a:avLst/>
          </a:prstGeom>
          <a:solidFill>
            <a:srgbClr val="1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The joined sample is much smaller than the raw outcome 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Loan outcome prediction | Exploratory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737360"/>
          <a:ext cx="6492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651760"/>
              </a:tblGrid>
              <a:tr h="4180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Matching check</a:t>
                      </a:r>
                    </a:p>
                  </a:txBody>
                  <a:tcPr>
                    <a:solidFill>
                      <a:srgbClr val="1627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Observed result</a:t>
                      </a:r>
                    </a:p>
                  </a:txBody>
                  <a:tcPr>
                    <a:solidFill>
                      <a:srgbClr val="16274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Loan-performance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1,285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Unique customers in performance data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1,269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Matched loan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Unique customers matched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634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Unmatched loan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Application customers without a loan record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4 identified + 9 missing IDs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35240" y="1828800"/>
            <a:ext cx="3749039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162745"/>
                </a:solidFill>
                <a:latin typeface="Aptos"/>
              </a:defRPr>
            </a:pPr>
            <a:r>
              <a:t>Outcome mix by match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423160"/>
            <a:ext cx="3749039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2D3748"/>
                </a:solidFill>
                <a:latin typeface="Aptos"/>
              </a:defRPr>
            </a:pPr>
            <a:r>
              <a:t>Matched: 353 Bad / 297 Good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971800"/>
            <a:ext cx="3749039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BE4B4B"/>
                </a:solidFill>
                <a:latin typeface="Aptos"/>
              </a:defRPr>
            </a:pPr>
            <a:r>
              <a:t>54.31% Bad among matched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657600"/>
            <a:ext cx="3749039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2D3748"/>
                </a:solidFill>
                <a:latin typeface="Aptos"/>
              </a:defRPr>
            </a:pPr>
            <a:r>
              <a:t>Unmatched: 163 Bad / 472 Good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206240"/>
            <a:ext cx="3749039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358765"/>
                </a:solidFill>
                <a:latin typeface="Aptos"/>
              </a:defRPr>
            </a:pPr>
            <a:r>
              <a:t>25.67% Bad among unmatched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106984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162745"/>
                </a:solidFill>
                <a:latin typeface="Aptos"/>
              </a:defRPr>
            </a:pPr>
            <a:r>
              <a:t>Interpretation: outcome distributions differ substantially by match status. Investigate matching rules and population differences before generalizing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Data preparation and validation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777240" cy="54864"/>
          </a:xfrm>
          <a:prstGeom prst="rect">
            <a:avLst/>
          </a:prstGeom>
          <a:solidFill>
            <a:srgbClr val="1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Prevent leakage and keep the feature set appropriate for prediction.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Loan outcome prediction | Exploratory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984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Join application and performance records using customer identifiers, then audit unmatched records and duplicate keys.</a:t>
            </a:r>
          </a:p>
          <a:p>
            <a:pPr>
              <a:spcAft>
                <a:spcPts val="9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Handle missing values and encode categorical variables through a preprocessing pipeline.</a:t>
            </a:r>
          </a:p>
          <a:p>
            <a:pPr>
              <a:spcAft>
                <a:spcPts val="9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Exclude direct identifiers and sensitive contact/banking identifiers, including email and bank routing number.</a:t>
            </a:r>
          </a:p>
          <a:p>
            <a:pPr>
              <a:spcAft>
                <a:spcPts val="9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Exclude post-decision fields such as amount_approved, duration_approved and payment_amount_approved.</a:t>
            </a:r>
          </a:p>
          <a:p>
            <a:pPr>
              <a:spcAft>
                <a:spcPts val="9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Use customer-grouped train/test separation and group-aware cross-validation to reduce leakage from repeated loans.</a:t>
            </a:r>
          </a:p>
          <a:p>
            <a:pPr>
              <a:spcAft>
                <a:spcPts val="9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Evaluate Bad precision, Bad recall, F1-score, ROC-AUC and confusion matrix—not accuracy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Candidate 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777240" cy="54864"/>
          </a:xfrm>
          <a:prstGeom prst="rect">
            <a:avLst/>
          </a:prstGeom>
          <a:solidFill>
            <a:srgbClr val="1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Single holdout results; differences are modest and require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Loan outcome prediction | Exploratory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91640"/>
          <a:ext cx="101498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17320"/>
                <a:gridCol w="1645920"/>
                <a:gridCol w="1508760"/>
                <a:gridCol w="1417320"/>
                <a:gridCol w="1417320"/>
              </a:tblGrid>
              <a:tr h="4800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627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627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Bad precision</a:t>
                      </a:r>
                    </a:p>
                  </a:txBody>
                  <a:tcPr>
                    <a:solidFill>
                      <a:srgbClr val="1627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Bad recall</a:t>
                      </a:r>
                    </a:p>
                  </a:txBody>
                  <a:tcPr>
                    <a:solidFill>
                      <a:srgbClr val="1627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Bad F1</a:t>
                      </a:r>
                    </a:p>
                  </a:txBody>
                  <a:tcPr>
                    <a:solidFill>
                      <a:srgbClr val="1627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6274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0.7042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0.6493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Extra Trees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0.6385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0.6579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0.7042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0.6803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0.6770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0.6231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0.6447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0.6901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0.6667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0.6744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0.6801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800600"/>
            <a:ext cx="1078992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8"/>
                </a:solidFill>
                <a:latin typeface="Aptos"/>
              </a:defRPr>
            </a:pPr>
            <a:r>
              <a:t>Extra Trees has higher ROC-AUC than Logistic Regression in this comparison.</a:t>
            </a:r>
          </a:p>
          <a:p>
            <a:pPr>
              <a:spcAft>
                <a:spcPts val="600"/>
              </a:spcAft>
              <a:defRPr sz="1400">
                <a:solidFill>
                  <a:srgbClr val="2D3748"/>
                </a:solidFill>
                <a:latin typeface="Aptos"/>
              </a:defRPr>
            </a:pPr>
            <a:r>
              <a:t>SVM has the highest ROC-AUC (0.6801), narrowly above Extra Trees (0.6770), but lower Bad recall and F1.</a:t>
            </a:r>
          </a:p>
          <a:p>
            <a:pPr>
              <a:spcAft>
                <a:spcPts val="600"/>
              </a:spcAft>
              <a:defRPr sz="1400">
                <a:solidFill>
                  <a:srgbClr val="2D3748"/>
                </a:solidFill>
                <a:latin typeface="Aptos"/>
              </a:defRPr>
            </a:pPr>
            <a:r>
              <a:t>No model is clearly strong; avoid claiming a definitive winner from one holdout sample.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Extra Trees: holdout confusion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777240" cy="54864"/>
          </a:xfrm>
          <a:prstGeom prst="rect">
            <a:avLst/>
          </a:prstGeom>
          <a:solidFill>
            <a:srgbClr val="1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Actual outcomes are rows; predicted outcomes are columns.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Loan outcome prediction | Exploratory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874519"/>
          <a:ext cx="5852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65960"/>
                <a:gridCol w="1965960"/>
              </a:tblGrid>
              <a:tr h="79248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</a:p>
                  </a:txBody>
                  <a:tcPr>
                    <a:solidFill>
                      <a:srgbClr val="1627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Predicted Bad</a:t>
                      </a:r>
                    </a:p>
                  </a:txBody>
                  <a:tcPr>
                    <a:solidFill>
                      <a:srgbClr val="1627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Predicted Good</a:t>
                      </a:r>
                    </a:p>
                  </a:txBody>
                  <a:tcPr>
                    <a:solidFill>
                      <a:srgbClr val="162745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Actual Bad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Actual Good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1783080"/>
            <a:ext cx="338328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F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9792" y="1901952"/>
            <a:ext cx="305409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CORRECT PREDICTIONS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2221991"/>
            <a:ext cx="305409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600" b="1">
                <a:solidFill>
                  <a:srgbClr val="189189"/>
                </a:solidFill>
                <a:latin typeface="Aptos"/>
              </a:defRPr>
            </a:pPr>
            <a:r>
              <a:t>83 / 130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2752344"/>
            <a:ext cx="3054096" cy="39319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0">
                <a:solidFill>
                  <a:srgbClr val="2D3748"/>
                </a:solidFill>
                <a:latin typeface="Aptos"/>
              </a:defRPr>
            </a:pPr>
            <a:r>
              <a:t>63.85%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429000"/>
            <a:ext cx="338328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F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9792" y="3547872"/>
            <a:ext cx="305409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INCORRECT PREDICTIONS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3867912"/>
            <a:ext cx="305409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600" b="1">
                <a:solidFill>
                  <a:srgbClr val="BE4B4B"/>
                </a:solidFill>
                <a:latin typeface="Aptos"/>
              </a:defRPr>
            </a:pPr>
            <a:r>
              <a:t>47 / 130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4398264"/>
            <a:ext cx="3054096" cy="39319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0">
                <a:solidFill>
                  <a:srgbClr val="2D3748"/>
                </a:solidFill>
                <a:latin typeface="Aptos"/>
              </a:defRPr>
            </a:pPr>
            <a:r>
              <a:t>36.15% of holdout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00600"/>
            <a:ext cx="1005840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62745"/>
                </a:solidFill>
                <a:latin typeface="Aptos"/>
              </a:defRPr>
            </a:pPr>
            <a:r>
              <a:t>Risk trade-off: 21 Bad outcomes were predicted Good, while 26 Good outcomes were predicted Bad. These error types can have different financial and customer impacts.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What features mattered most?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777240" cy="54864"/>
          </a:xfrm>
          <a:prstGeom prst="rect">
            <a:avLst/>
          </a:prstGeom>
          <a:solidFill>
            <a:srgbClr val="1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Feature importance describes model reliance, not causation or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Loan outcome prediction | Exploratory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600200"/>
          <a:ext cx="667512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35240" y="1783080"/>
            <a:ext cx="388620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2D3748"/>
                </a:solidFill>
                <a:latin typeface="Aptos"/>
              </a:defRPr>
            </a:pPr>
            <a:r>
              <a:t>Credit-related scores are prominent in the top ranks.</a:t>
            </a:r>
          </a:p>
          <a:p>
            <a:pPr>
              <a:spcAft>
                <a:spcPts val="1100"/>
              </a:spcAft>
              <a:defRPr sz="1400">
                <a:solidFill>
                  <a:srgbClr val="2D3748"/>
                </a:solidFill>
                <a:latin typeface="Aptos"/>
              </a:defRPr>
            </a:pPr>
            <a:r>
              <a:t>Payment frequency and loan characteristics also contribute.</a:t>
            </a:r>
          </a:p>
          <a:p>
            <a:pPr>
              <a:spcAft>
                <a:spcPts val="1100"/>
              </a:spcAft>
              <a:defRPr sz="1400">
                <a:solidFill>
                  <a:srgbClr val="2D3748"/>
                </a:solidFill>
                <a:latin typeface="Aptos"/>
              </a:defRPr>
            </a:pPr>
            <a:r>
              <a:t>Income, rent and bank-account history add predictive signal.</a:t>
            </a:r>
          </a:p>
          <a:p>
            <a:pPr>
              <a:spcAft>
                <a:spcPts val="1100"/>
              </a:spcAft>
              <a:defRPr sz="1400">
                <a:solidFill>
                  <a:srgbClr val="2D3748"/>
                </a:solidFill>
                <a:latin typeface="Aptos"/>
              </a:defRPr>
            </a:pPr>
            <a:r>
              <a:t>Age is a fairness/compliance concern; compare results with and without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Key findings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777240" cy="54864"/>
          </a:xfrm>
          <a:prstGeom prst="rect">
            <a:avLst/>
          </a:prstGeom>
          <a:solidFill>
            <a:srgbClr val="1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Separate evidence from assumptions and areas needing further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Loan outcome prediction | Exploratory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9377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189189"/>
                </a:solidFill>
                <a:latin typeface="Aptos"/>
              </a:defRPr>
            </a:pPr>
            <a:r>
              <a:t>What the analysis suggests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9377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The model captures some signal but has moderate predictive performance.</a:t>
            </a:r>
          </a:p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Bad outcomes are detected more often than Good outcomes at the current threshold.</a:t>
            </a:r>
          </a:p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Credit scores, payment setup and loan characteristics are influential in the fitted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91640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69138"/>
                </a:solidFill>
                <a:latin typeface="Aptos"/>
              </a:defRPr>
            </a:pPr>
            <a:r>
              <a:t>What limits 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512064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Aptos"/>
              </a:defRPr>
            </a:pPr>
            <a:r>
              <a:t>Only 634 unique customers were matched in the initial audit.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Aptos"/>
              </a:defRPr>
            </a:pPr>
            <a:r>
              <a:t>Matched and unmatched populations have different outcome distributions.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Aptos"/>
              </a:defRPr>
            </a:pPr>
            <a:r>
              <a:t>The holdout set has 130 records; results may vary on new samples.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Aptos"/>
              </a:defRPr>
            </a:pPr>
            <a:r>
              <a:t>Missing data, repeated loans and possible selection bias need investigation.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Aptos"/>
              </a:defRPr>
            </a:pPr>
            <a:r>
              <a:t>Predictive importance does not establish causation, fairness or profitability.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Recommendations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777240" cy="54864"/>
          </a:xfrm>
          <a:prstGeom prst="rect">
            <a:avLst/>
          </a:prstGeom>
          <a:solidFill>
            <a:srgbClr val="1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Prioritize data integrity, robust validation and responsible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Loan outcome prediction | Exploratory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98480" cy="4526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Investigate unmatched loan records and validate the customer/loan ID matching logic.</a:t>
            </a:r>
          </a:p>
          <a:p>
            <a:pPr>
              <a:spcAft>
                <a:spcPts val="9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Obtain more representative historical records with reliable outcome labels and consistent data definitions.</a:t>
            </a:r>
          </a:p>
          <a:p>
            <a:pPr>
              <a:spcAft>
                <a:spcPts val="9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Repeat customer-grouped cross-validation and assess performance stability across samples.</a:t>
            </a:r>
          </a:p>
          <a:p>
            <a:pPr>
              <a:spcAft>
                <a:spcPts val="9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Tune classification thresholds using documented costs of missed Bad outcomes and incorrectly rejected Good outcomes.</a:t>
            </a:r>
          </a:p>
          <a:p>
            <a:pPr>
              <a:spcAft>
                <a:spcPts val="9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Check probability calibration, fairness and subgroup performance; assess models with and without age.</a:t>
            </a:r>
          </a:p>
          <a:p>
            <a:pPr>
              <a:spcAft>
                <a:spcPts val="9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Review feature availability at the actual decision time to prevent leakage.</a:t>
            </a:r>
          </a:p>
          <a:p>
            <a:pPr>
              <a:spcAft>
                <a:spcPts val="9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Keep human oversight and treat the model as exploratory until independently validated.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7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7899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1">
                <a:solidFill>
                  <a:srgbClr val="89DCD3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Promising signals, not yet decision-ready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60320"/>
            <a:ext cx="1051560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Extra Trees reached 63.85% holdout accuracy and 0.677 ROC-AUC in the supplied comparison.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It identified 50 of 71 Bad outcomes, but misclassified 47 of 130 test records overall.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Data matching differences, limited evaluation size and fairness considerations constrain confidence.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Next step: improve the data foundation and validate the model before operational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715000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89DCD3"/>
                </a:solidFill>
                <a:latin typeface="Aptos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Discussion: questions to resolve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777240" cy="54864"/>
          </a:xfrm>
          <a:prstGeom prst="rect">
            <a:avLst/>
          </a:prstGeom>
          <a:solidFill>
            <a:srgbClr val="1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Use these prompts to guide the assessment Q&amp;A.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Loan outcome prediction | Exploratory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984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What does the business consider more costly: approving a Bad-risk loan or rejecting a Good-risk applicant?</a:t>
            </a:r>
          </a:p>
          <a:p>
            <a:pPr>
              <a:spcAft>
                <a:spcPts val="14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Why are 635 loan-performance records unmatched to application data?</a:t>
            </a:r>
          </a:p>
          <a:p>
            <a:pPr>
              <a:spcAft>
                <a:spcPts val="14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Are all model inputs available and verified at the point of application?</a:t>
            </a:r>
          </a:p>
          <a:p>
            <a:pPr>
              <a:spcAft>
                <a:spcPts val="14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How stable are performance metrics across customer groups and time periods?</a:t>
            </a:r>
          </a:p>
          <a:p>
            <a:pPr>
              <a:spcAft>
                <a:spcPts val="14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What evidence is needed before the model can be considered for a controlled pilot?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